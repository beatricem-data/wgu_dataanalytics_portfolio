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59" r:id="rId3"/>
    <p:sldId id="260" r:id="rId4"/>
    <p:sldId id="266" r:id="rId5"/>
    <p:sldId id="262" r:id="rId6"/>
    <p:sldId id="264" r:id="rId7"/>
    <p:sldId id="26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7D8D0-1CF3-49CE-868B-5C6A6F97433E}" v="42" dt="2025-11-11T23:04:26.2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atrice Mwangi" userId="c4ac94e07c3f3f20" providerId="LiveId" clId="{3DC5BD5A-2902-4683-B649-C5C26958DC3A}"/>
    <pc:docChg chg="undo custSel addSld delSld modSld sldOrd">
      <pc:chgData name="Beatrice Mwangi" userId="c4ac94e07c3f3f20" providerId="LiveId" clId="{3DC5BD5A-2902-4683-B649-C5C26958DC3A}" dt="2025-11-12T01:56:13.364" v="4079" actId="20577"/>
      <pc:docMkLst>
        <pc:docMk/>
      </pc:docMkLst>
      <pc:sldChg chg="addSp modSp mod">
        <pc:chgData name="Beatrice Mwangi" userId="c4ac94e07c3f3f20" providerId="LiveId" clId="{3DC5BD5A-2902-4683-B649-C5C26958DC3A}" dt="2025-11-11T23:10:09.093" v="4007" actId="14100"/>
        <pc:sldMkLst>
          <pc:docMk/>
          <pc:sldMk cId="965299070" sldId="256"/>
        </pc:sldMkLst>
        <pc:spChg chg="mod">
          <ac:chgData name="Beatrice Mwangi" userId="c4ac94e07c3f3f20" providerId="LiveId" clId="{3DC5BD5A-2902-4683-B649-C5C26958DC3A}" dt="2025-11-11T23:10:09.093" v="4007" actId="14100"/>
          <ac:spMkLst>
            <pc:docMk/>
            <pc:sldMk cId="965299070" sldId="256"/>
            <ac:spMk id="2" creationId="{7606B9D0-4144-CB9F-5195-40C02EA4EEF1}"/>
          </ac:spMkLst>
        </pc:spChg>
        <pc:spChg chg="mod">
          <ac:chgData name="Beatrice Mwangi" userId="c4ac94e07c3f3f20" providerId="LiveId" clId="{3DC5BD5A-2902-4683-B649-C5C26958DC3A}" dt="2025-11-11T21:20:31.342" v="2002" actId="14100"/>
          <ac:spMkLst>
            <pc:docMk/>
            <pc:sldMk cId="965299070" sldId="256"/>
            <ac:spMk id="3" creationId="{1E585227-0D59-434F-5D86-23D570A84A42}"/>
          </ac:spMkLst>
        </pc:spChg>
        <pc:spChg chg="add mod">
          <ac:chgData name="Beatrice Mwangi" userId="c4ac94e07c3f3f20" providerId="LiveId" clId="{3DC5BD5A-2902-4683-B649-C5C26958DC3A}" dt="2025-11-11T21:21:35.400" v="2004" actId="14100"/>
          <ac:spMkLst>
            <pc:docMk/>
            <pc:sldMk cId="965299070" sldId="256"/>
            <ac:spMk id="6" creationId="{292DC277-4BA0-931F-2F94-0802145B084C}"/>
          </ac:spMkLst>
        </pc:spChg>
        <pc:picChg chg="mod">
          <ac:chgData name="Beatrice Mwangi" userId="c4ac94e07c3f3f20" providerId="LiveId" clId="{3DC5BD5A-2902-4683-B649-C5C26958DC3A}" dt="2025-11-11T23:09:49.004" v="4005" actId="1076"/>
          <ac:picMkLst>
            <pc:docMk/>
            <pc:sldMk cId="965299070" sldId="256"/>
            <ac:picMk id="5" creationId="{5108974C-9767-1BF9-0FED-97E79FC0C107}"/>
          </ac:picMkLst>
        </pc:picChg>
      </pc:sldChg>
      <pc:sldChg chg="addSp modSp del mod">
        <pc:chgData name="Beatrice Mwangi" userId="c4ac94e07c3f3f20" providerId="LiveId" clId="{3DC5BD5A-2902-4683-B649-C5C26958DC3A}" dt="2025-11-11T18:38:19.525" v="499" actId="2696"/>
        <pc:sldMkLst>
          <pc:docMk/>
          <pc:sldMk cId="3849629173" sldId="258"/>
        </pc:sldMkLst>
        <pc:spChg chg="mod">
          <ac:chgData name="Beatrice Mwangi" userId="c4ac94e07c3f3f20" providerId="LiveId" clId="{3DC5BD5A-2902-4683-B649-C5C26958DC3A}" dt="2025-11-11T17:43:28.493" v="74" actId="2711"/>
          <ac:spMkLst>
            <pc:docMk/>
            <pc:sldMk cId="3849629173" sldId="258"/>
            <ac:spMk id="2" creationId="{0E67FA30-8882-5EA6-57E4-2020B6C9E0B5}"/>
          </ac:spMkLst>
        </pc:spChg>
        <pc:spChg chg="add mod">
          <ac:chgData name="Beatrice Mwangi" userId="c4ac94e07c3f3f20" providerId="LiveId" clId="{3DC5BD5A-2902-4683-B649-C5C26958DC3A}" dt="2025-11-11T17:43:17.853" v="73" actId="255"/>
          <ac:spMkLst>
            <pc:docMk/>
            <pc:sldMk cId="3849629173" sldId="258"/>
            <ac:spMk id="4" creationId="{22CCE199-698C-4FA8-9D3A-E73C0690FA06}"/>
          </ac:spMkLst>
        </pc:spChg>
      </pc:sldChg>
      <pc:sldChg chg="addSp modSp mod">
        <pc:chgData name="Beatrice Mwangi" userId="c4ac94e07c3f3f20" providerId="LiveId" clId="{3DC5BD5A-2902-4683-B649-C5C26958DC3A}" dt="2025-11-11T23:07:55.223" v="4003" actId="20577"/>
        <pc:sldMkLst>
          <pc:docMk/>
          <pc:sldMk cId="4162309007" sldId="259"/>
        </pc:sldMkLst>
        <pc:spChg chg="mod">
          <ac:chgData name="Beatrice Mwangi" userId="c4ac94e07c3f3f20" providerId="LiveId" clId="{3DC5BD5A-2902-4683-B649-C5C26958DC3A}" dt="2025-11-11T18:37:31.275" v="491" actId="27636"/>
          <ac:spMkLst>
            <pc:docMk/>
            <pc:sldMk cId="4162309007" sldId="259"/>
            <ac:spMk id="2" creationId="{C84B1602-A685-F8B6-28DE-94C0C7EB5D25}"/>
          </ac:spMkLst>
        </pc:spChg>
        <pc:spChg chg="mod">
          <ac:chgData name="Beatrice Mwangi" userId="c4ac94e07c3f3f20" providerId="LiveId" clId="{3DC5BD5A-2902-4683-B649-C5C26958DC3A}" dt="2025-11-11T23:07:55.223" v="4003" actId="20577"/>
          <ac:spMkLst>
            <pc:docMk/>
            <pc:sldMk cId="4162309007" sldId="259"/>
            <ac:spMk id="3" creationId="{D8FAD4B7-2B43-EC3D-7E6B-CD2F00ABA9EE}"/>
          </ac:spMkLst>
        </pc:spChg>
        <pc:spChg chg="add mod">
          <ac:chgData name="Beatrice Mwangi" userId="c4ac94e07c3f3f20" providerId="LiveId" clId="{3DC5BD5A-2902-4683-B649-C5C26958DC3A}" dt="2025-11-11T18:38:06.704" v="498" actId="14100"/>
          <ac:spMkLst>
            <pc:docMk/>
            <pc:sldMk cId="4162309007" sldId="259"/>
            <ac:spMk id="4" creationId="{187EE914-3A53-DE64-54D9-8E7B67FC896C}"/>
          </ac:spMkLst>
        </pc:spChg>
      </pc:sldChg>
      <pc:sldChg chg="modSp mod">
        <pc:chgData name="Beatrice Mwangi" userId="c4ac94e07c3f3f20" providerId="LiveId" clId="{3DC5BD5A-2902-4683-B649-C5C26958DC3A}" dt="2025-11-12T01:49:51.420" v="4019" actId="207"/>
        <pc:sldMkLst>
          <pc:docMk/>
          <pc:sldMk cId="3336544683" sldId="260"/>
        </pc:sldMkLst>
        <pc:spChg chg="mod">
          <ac:chgData name="Beatrice Mwangi" userId="c4ac94e07c3f3f20" providerId="LiveId" clId="{3DC5BD5A-2902-4683-B649-C5C26958DC3A}" dt="2025-11-11T22:52:15.514" v="3970" actId="14100"/>
          <ac:spMkLst>
            <pc:docMk/>
            <pc:sldMk cId="3336544683" sldId="260"/>
            <ac:spMk id="2" creationId="{2335684C-1C07-7536-B66D-619C0773BFEE}"/>
          </ac:spMkLst>
        </pc:spChg>
        <pc:spChg chg="mod">
          <ac:chgData name="Beatrice Mwangi" userId="c4ac94e07c3f3f20" providerId="LiveId" clId="{3DC5BD5A-2902-4683-B649-C5C26958DC3A}" dt="2025-11-12T01:49:51.420" v="4019" actId="207"/>
          <ac:spMkLst>
            <pc:docMk/>
            <pc:sldMk cId="3336544683" sldId="260"/>
            <ac:spMk id="3" creationId="{F3751544-0BDF-B325-B4C3-561A2945C03E}"/>
          </ac:spMkLst>
        </pc:spChg>
      </pc:sldChg>
      <pc:sldChg chg="modSp del mod">
        <pc:chgData name="Beatrice Mwangi" userId="c4ac94e07c3f3f20" providerId="LiveId" clId="{3DC5BD5A-2902-4683-B649-C5C26958DC3A}" dt="2025-11-11T18:30:42.998" v="403" actId="2696"/>
        <pc:sldMkLst>
          <pc:docMk/>
          <pc:sldMk cId="4086761404" sldId="261"/>
        </pc:sldMkLst>
        <pc:spChg chg="mod">
          <ac:chgData name="Beatrice Mwangi" userId="c4ac94e07c3f3f20" providerId="LiveId" clId="{3DC5BD5A-2902-4683-B649-C5C26958DC3A}" dt="2025-11-11T17:48:10.840" v="246" actId="122"/>
          <ac:spMkLst>
            <pc:docMk/>
            <pc:sldMk cId="4086761404" sldId="261"/>
            <ac:spMk id="2" creationId="{F55B37BE-D1CB-CCC6-F6D8-58DCE752284C}"/>
          </ac:spMkLst>
        </pc:spChg>
      </pc:sldChg>
      <pc:sldChg chg="modSp new mod">
        <pc:chgData name="Beatrice Mwangi" userId="c4ac94e07c3f3f20" providerId="LiveId" clId="{3DC5BD5A-2902-4683-B649-C5C26958DC3A}" dt="2025-11-11T23:11:31.283" v="4009" actId="14100"/>
        <pc:sldMkLst>
          <pc:docMk/>
          <pc:sldMk cId="3431635014" sldId="262"/>
        </pc:sldMkLst>
        <pc:spChg chg="mod">
          <ac:chgData name="Beatrice Mwangi" userId="c4ac94e07c3f3f20" providerId="LiveId" clId="{3DC5BD5A-2902-4683-B649-C5C26958DC3A}" dt="2025-11-11T19:37:10.564" v="1563" actId="1076"/>
          <ac:spMkLst>
            <pc:docMk/>
            <pc:sldMk cId="3431635014" sldId="262"/>
            <ac:spMk id="2" creationId="{BFC46D40-11D0-B5FB-BC7C-3BCE9F981714}"/>
          </ac:spMkLst>
        </pc:spChg>
        <pc:spChg chg="mod">
          <ac:chgData name="Beatrice Mwangi" userId="c4ac94e07c3f3f20" providerId="LiveId" clId="{3DC5BD5A-2902-4683-B649-C5C26958DC3A}" dt="2025-11-11T23:11:31.283" v="4009" actId="14100"/>
          <ac:spMkLst>
            <pc:docMk/>
            <pc:sldMk cId="3431635014" sldId="262"/>
            <ac:spMk id="3" creationId="{301BC86D-1274-EE96-B5C9-4DD1405E3DDE}"/>
          </ac:spMkLst>
        </pc:spChg>
      </pc:sldChg>
      <pc:sldChg chg="modSp new del mod">
        <pc:chgData name="Beatrice Mwangi" userId="c4ac94e07c3f3f20" providerId="LiveId" clId="{3DC5BD5A-2902-4683-B649-C5C26958DC3A}" dt="2025-11-11T19:14:04.202" v="969" actId="2696"/>
        <pc:sldMkLst>
          <pc:docMk/>
          <pc:sldMk cId="3988387675" sldId="263"/>
        </pc:sldMkLst>
        <pc:spChg chg="mod">
          <ac:chgData name="Beatrice Mwangi" userId="c4ac94e07c3f3f20" providerId="LiveId" clId="{3DC5BD5A-2902-4683-B649-C5C26958DC3A}" dt="2025-11-11T17:49:42.568" v="259" actId="122"/>
          <ac:spMkLst>
            <pc:docMk/>
            <pc:sldMk cId="3988387675" sldId="263"/>
            <ac:spMk id="2" creationId="{6613025B-E2AC-0E8C-E3AF-A5AC3C87D584}"/>
          </ac:spMkLst>
        </pc:spChg>
      </pc:sldChg>
      <pc:sldChg chg="addSp delSp modSp new mod setBg">
        <pc:chgData name="Beatrice Mwangi" userId="c4ac94e07c3f3f20" providerId="LiveId" clId="{3DC5BD5A-2902-4683-B649-C5C26958DC3A}" dt="2025-11-12T01:56:13.364" v="4079" actId="20577"/>
        <pc:sldMkLst>
          <pc:docMk/>
          <pc:sldMk cId="1899715282" sldId="264"/>
        </pc:sldMkLst>
        <pc:spChg chg="mod">
          <ac:chgData name="Beatrice Mwangi" userId="c4ac94e07c3f3f20" providerId="LiveId" clId="{3DC5BD5A-2902-4683-B649-C5C26958DC3A}" dt="2025-11-11T19:35:38.415" v="1557" actId="14100"/>
          <ac:spMkLst>
            <pc:docMk/>
            <pc:sldMk cId="1899715282" sldId="264"/>
            <ac:spMk id="2" creationId="{30F29354-E366-EAEE-6AA4-21609C7B27CC}"/>
          </ac:spMkLst>
        </pc:spChg>
        <pc:spChg chg="mod">
          <ac:chgData name="Beatrice Mwangi" userId="c4ac94e07c3f3f20" providerId="LiveId" clId="{3DC5BD5A-2902-4683-B649-C5C26958DC3A}" dt="2025-11-12T01:56:13.364" v="4079" actId="20577"/>
          <ac:spMkLst>
            <pc:docMk/>
            <pc:sldMk cId="1899715282" sldId="264"/>
            <ac:spMk id="3" creationId="{99E14BC1-5BD7-7623-EA94-6DDB96027224}"/>
          </ac:spMkLst>
        </pc:spChg>
        <pc:picChg chg="add del mod">
          <ac:chgData name="Beatrice Mwangi" userId="c4ac94e07c3f3f20" providerId="LiveId" clId="{3DC5BD5A-2902-4683-B649-C5C26958DC3A}" dt="2025-11-11T19:32:03.771" v="1521" actId="478"/>
          <ac:picMkLst>
            <pc:docMk/>
            <pc:sldMk cId="1899715282" sldId="264"/>
            <ac:picMk id="5" creationId="{4F9904A6-7A7A-B0A5-7210-FE715C44D94A}"/>
          </ac:picMkLst>
        </pc:picChg>
      </pc:sldChg>
      <pc:sldChg chg="modSp new mod">
        <pc:chgData name="Beatrice Mwangi" userId="c4ac94e07c3f3f20" providerId="LiveId" clId="{3DC5BD5A-2902-4683-B649-C5C26958DC3A}" dt="2025-11-11T21:19:09.165" v="2000" actId="20577"/>
        <pc:sldMkLst>
          <pc:docMk/>
          <pc:sldMk cId="2158606353" sldId="265"/>
        </pc:sldMkLst>
        <pc:spChg chg="mod">
          <ac:chgData name="Beatrice Mwangi" userId="c4ac94e07c3f3f20" providerId="LiveId" clId="{3DC5BD5A-2902-4683-B649-C5C26958DC3A}" dt="2025-11-11T21:06:49.190" v="1772" actId="14100"/>
          <ac:spMkLst>
            <pc:docMk/>
            <pc:sldMk cId="2158606353" sldId="265"/>
            <ac:spMk id="2" creationId="{74997D73-14BB-7A81-1426-52D914E4CFEB}"/>
          </ac:spMkLst>
        </pc:spChg>
        <pc:spChg chg="mod">
          <ac:chgData name="Beatrice Mwangi" userId="c4ac94e07c3f3f20" providerId="LiveId" clId="{3DC5BD5A-2902-4683-B649-C5C26958DC3A}" dt="2025-11-11T21:19:09.165" v="2000" actId="20577"/>
          <ac:spMkLst>
            <pc:docMk/>
            <pc:sldMk cId="2158606353" sldId="265"/>
            <ac:spMk id="3" creationId="{A4B3E17A-4538-A871-25E9-CED8715C870C}"/>
          </ac:spMkLst>
        </pc:spChg>
      </pc:sldChg>
      <pc:sldChg chg="modSp add mod ord">
        <pc:chgData name="Beatrice Mwangi" userId="c4ac94e07c3f3f20" providerId="LiveId" clId="{3DC5BD5A-2902-4683-B649-C5C26958DC3A}" dt="2025-11-11T21:13:05.274" v="1870" actId="14100"/>
        <pc:sldMkLst>
          <pc:docMk/>
          <pc:sldMk cId="3295656292" sldId="266"/>
        </pc:sldMkLst>
        <pc:spChg chg="mod">
          <ac:chgData name="Beatrice Mwangi" userId="c4ac94e07c3f3f20" providerId="LiveId" clId="{3DC5BD5A-2902-4683-B649-C5C26958DC3A}" dt="2025-11-11T21:08:56.233" v="1782" actId="27636"/>
          <ac:spMkLst>
            <pc:docMk/>
            <pc:sldMk cId="3295656292" sldId="266"/>
            <ac:spMk id="2" creationId="{A60A96A7-6D48-7774-792B-CF131F5FB400}"/>
          </ac:spMkLst>
        </pc:spChg>
        <pc:spChg chg="mod">
          <ac:chgData name="Beatrice Mwangi" userId="c4ac94e07c3f3f20" providerId="LiveId" clId="{3DC5BD5A-2902-4683-B649-C5C26958DC3A}" dt="2025-11-11T21:12:47.448" v="1869" actId="20577"/>
          <ac:spMkLst>
            <pc:docMk/>
            <pc:sldMk cId="3295656292" sldId="266"/>
            <ac:spMk id="3" creationId="{8EE16F62-4568-3228-A55B-7B0B635F969E}"/>
          </ac:spMkLst>
        </pc:spChg>
        <pc:picChg chg="mod">
          <ac:chgData name="Beatrice Mwangi" userId="c4ac94e07c3f3f20" providerId="LiveId" clId="{3DC5BD5A-2902-4683-B649-C5C26958DC3A}" dt="2025-11-11T21:13:05.274" v="1870" actId="14100"/>
          <ac:picMkLst>
            <pc:docMk/>
            <pc:sldMk cId="3295656292" sldId="266"/>
            <ac:picMk id="5" creationId="{A23AB511-D254-C1AD-CC73-35927AA652D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89A6D7-C063-4AF5-BD80-081D1A55A36C}"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F6AC1-66F2-4053-9B6E-FB5342AEE30B}" type="slidenum">
              <a:rPr lang="en-US" smtClean="0"/>
              <a:t>‹#›</a:t>
            </a:fld>
            <a:endParaRPr lang="en-US"/>
          </a:p>
        </p:txBody>
      </p:sp>
    </p:spTree>
    <p:extLst>
      <p:ext uri="{BB962C8B-B14F-4D97-AF65-F5344CB8AC3E}">
        <p14:creationId xmlns:p14="http://schemas.microsoft.com/office/powerpoint/2010/main" val="2130888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F6AC1-66F2-4053-9B6E-FB5342AEE30B}" type="slidenum">
              <a:rPr lang="en-US" smtClean="0"/>
              <a:t>1</a:t>
            </a:fld>
            <a:endParaRPr lang="en-US"/>
          </a:p>
        </p:txBody>
      </p:sp>
    </p:spTree>
    <p:extLst>
      <p:ext uri="{BB962C8B-B14F-4D97-AF65-F5344CB8AC3E}">
        <p14:creationId xmlns:p14="http://schemas.microsoft.com/office/powerpoint/2010/main" val="1985955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F6AC1-66F2-4053-9B6E-FB5342AEE30B}" type="slidenum">
              <a:rPr lang="en-US" smtClean="0"/>
              <a:t>2</a:t>
            </a:fld>
            <a:endParaRPr lang="en-US"/>
          </a:p>
        </p:txBody>
      </p:sp>
    </p:spTree>
    <p:extLst>
      <p:ext uri="{BB962C8B-B14F-4D97-AF65-F5344CB8AC3E}">
        <p14:creationId xmlns:p14="http://schemas.microsoft.com/office/powerpoint/2010/main" val="2195187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11/11/2025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ahmadrazakashif/bmw-worldwide-sales-records-2010202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1F24C-BA9D-41EE-B46F-6C4F5B35D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cars driving on a track&#10;&#10;AI-generated content may be incorrect.">
            <a:extLst>
              <a:ext uri="{FF2B5EF4-FFF2-40B4-BE49-F238E27FC236}">
                <a16:creationId xmlns:a16="http://schemas.microsoft.com/office/drawing/2014/main" id="{5108974C-9767-1BF9-0FED-97E79FC0C107}"/>
              </a:ext>
            </a:extLst>
          </p:cNvPr>
          <p:cNvPicPr>
            <a:picLocks noChangeAspect="1"/>
          </p:cNvPicPr>
          <p:nvPr/>
        </p:nvPicPr>
        <p:blipFill>
          <a:blip r:embed="rId3">
            <a:duotone>
              <a:schemeClr val="bg2">
                <a:shade val="45000"/>
                <a:satMod val="135000"/>
              </a:schemeClr>
              <a:prstClr val="white"/>
            </a:duotone>
            <a:alphaModFix amt="40000"/>
          </a:blip>
          <a:srcRect t="31877" b="5968"/>
          <a:stretch>
            <a:fillRect/>
          </a:stretch>
        </p:blipFill>
        <p:spPr>
          <a:xfrm>
            <a:off x="-27204" y="21344"/>
            <a:ext cx="12191980" cy="6857990"/>
          </a:xfrm>
          <a:prstGeom prst="rect">
            <a:avLst/>
          </a:prstGeom>
        </p:spPr>
      </p:pic>
      <p:grpSp>
        <p:nvGrpSpPr>
          <p:cNvPr id="12" name="Group 11">
            <a:extLst>
              <a:ext uri="{FF2B5EF4-FFF2-40B4-BE49-F238E27FC236}">
                <a16:creationId xmlns:a16="http://schemas.microsoft.com/office/drawing/2014/main" id="{C13B8118-80AF-4C0C-BC64-74291987FF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E28C34FD-C8AB-4444-9244-37247B99B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4" name="Freeform 12">
              <a:extLst>
                <a:ext uri="{FF2B5EF4-FFF2-40B4-BE49-F238E27FC236}">
                  <a16:creationId xmlns:a16="http://schemas.microsoft.com/office/drawing/2014/main" id="{F9BFF7D6-B77B-44E9-A782-9D298C9901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7" name="Freeform 13">
              <a:extLst>
                <a:ext uri="{FF2B5EF4-FFF2-40B4-BE49-F238E27FC236}">
                  <a16:creationId xmlns:a16="http://schemas.microsoft.com/office/drawing/2014/main" id="{514D6296-625A-4CC9-BEB9-D738BF2A2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8" name="Freeform 14">
              <a:extLst>
                <a:ext uri="{FF2B5EF4-FFF2-40B4-BE49-F238E27FC236}">
                  <a16:creationId xmlns:a16="http://schemas.microsoft.com/office/drawing/2014/main" id="{CF7A54B1-9C64-4395-9A06-3DCAFBD40C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9" name="Freeform 15">
              <a:extLst>
                <a:ext uri="{FF2B5EF4-FFF2-40B4-BE49-F238E27FC236}">
                  <a16:creationId xmlns:a16="http://schemas.microsoft.com/office/drawing/2014/main" id="{A06A8912-6544-446B-8B15-C7E68BF5E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1" name="Freeform 16">
              <a:extLst>
                <a:ext uri="{FF2B5EF4-FFF2-40B4-BE49-F238E27FC236}">
                  <a16:creationId xmlns:a16="http://schemas.microsoft.com/office/drawing/2014/main" id="{23046646-4195-4B9A-8E43-22B520F8F3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41" name="Freeform 17">
              <a:extLst>
                <a:ext uri="{FF2B5EF4-FFF2-40B4-BE49-F238E27FC236}">
                  <a16:creationId xmlns:a16="http://schemas.microsoft.com/office/drawing/2014/main" id="{B0BBADBF-6D90-44AD-9068-FF03855DA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43" name="Freeform 18">
              <a:extLst>
                <a:ext uri="{FF2B5EF4-FFF2-40B4-BE49-F238E27FC236}">
                  <a16:creationId xmlns:a16="http://schemas.microsoft.com/office/drawing/2014/main" id="{75227888-5A01-404B-AE4D-D79B05A86F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44" name="Freeform 19">
              <a:extLst>
                <a:ext uri="{FF2B5EF4-FFF2-40B4-BE49-F238E27FC236}">
                  <a16:creationId xmlns:a16="http://schemas.microsoft.com/office/drawing/2014/main" id="{B7ACB41F-3710-4051-AB65-5FC82C5FBF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45" name="Freeform 20">
              <a:extLst>
                <a:ext uri="{FF2B5EF4-FFF2-40B4-BE49-F238E27FC236}">
                  <a16:creationId xmlns:a16="http://schemas.microsoft.com/office/drawing/2014/main" id="{F28F1156-1F03-4A29-9016-C29EA17BC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46" name="Freeform 21">
              <a:extLst>
                <a:ext uri="{FF2B5EF4-FFF2-40B4-BE49-F238E27FC236}">
                  <a16:creationId xmlns:a16="http://schemas.microsoft.com/office/drawing/2014/main" id="{F7C0D23E-7680-4D6E-B35D-244D3E77E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47" name="Freeform 22">
              <a:extLst>
                <a:ext uri="{FF2B5EF4-FFF2-40B4-BE49-F238E27FC236}">
                  <a16:creationId xmlns:a16="http://schemas.microsoft.com/office/drawing/2014/main" id="{D1F7FFBA-E04A-40A4-8F92-AAD6EF8A4D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sp>
        <p:nvSpPr>
          <p:cNvPr id="2" name="Title 1">
            <a:extLst>
              <a:ext uri="{FF2B5EF4-FFF2-40B4-BE49-F238E27FC236}">
                <a16:creationId xmlns:a16="http://schemas.microsoft.com/office/drawing/2014/main" id="{7606B9D0-4144-CB9F-5195-40C02EA4EEF1}"/>
              </a:ext>
            </a:extLst>
          </p:cNvPr>
          <p:cNvSpPr>
            <a:spLocks noGrp="1"/>
          </p:cNvSpPr>
          <p:nvPr>
            <p:ph type="ctrTitle"/>
          </p:nvPr>
        </p:nvSpPr>
        <p:spPr>
          <a:xfrm>
            <a:off x="5263763" y="3437952"/>
            <a:ext cx="6425846" cy="2806784"/>
          </a:xfrm>
        </p:spPr>
        <p:txBody>
          <a:bodyPr>
            <a:normAutofit/>
          </a:bodyPr>
          <a:lstStyle/>
          <a:p>
            <a:pPr algn="ctr">
              <a:lnSpc>
                <a:spcPct val="200000"/>
              </a:lnSpc>
            </a:pPr>
            <a:r>
              <a:rPr lang="en-US" sz="1300" dirty="0">
                <a:solidFill>
                  <a:schemeClr val="tx1"/>
                </a:solidFill>
                <a:latin typeface="Times New Roman" panose="02020603050405020304" pitchFamily="18" charset="0"/>
                <a:cs typeface="Times New Roman" panose="02020603050405020304" pitchFamily="18" charset="0"/>
              </a:rPr>
              <a:t>D214: Data Analytics Graduate Capstone -NKM2 — NKM2 Task 3: Presentation of Findings</a:t>
            </a:r>
            <a:br>
              <a:rPr lang="en-US" sz="1300" dirty="0">
                <a:solidFill>
                  <a:schemeClr val="tx1"/>
                </a:solidFill>
                <a:latin typeface="Times New Roman" panose="02020603050405020304" pitchFamily="18" charset="0"/>
                <a:cs typeface="Times New Roman" panose="02020603050405020304" pitchFamily="18" charset="0"/>
              </a:rPr>
            </a:br>
            <a:r>
              <a:rPr lang="en-US" sz="1300" dirty="0">
                <a:solidFill>
                  <a:schemeClr val="tx1"/>
                </a:solidFill>
                <a:latin typeface="Times New Roman" panose="02020603050405020304" pitchFamily="18" charset="0"/>
                <a:cs typeface="Times New Roman" panose="02020603050405020304" pitchFamily="18" charset="0"/>
              </a:rPr>
              <a:t>Beatrice Mwangi</a:t>
            </a:r>
            <a:br>
              <a:rPr lang="en-US" sz="1300" dirty="0">
                <a:solidFill>
                  <a:schemeClr val="tx1"/>
                </a:solidFill>
                <a:latin typeface="Times New Roman" panose="02020603050405020304" pitchFamily="18" charset="0"/>
                <a:cs typeface="Times New Roman" panose="02020603050405020304" pitchFamily="18" charset="0"/>
              </a:rPr>
            </a:br>
            <a:r>
              <a:rPr lang="en-US" sz="1300" dirty="0">
                <a:solidFill>
                  <a:schemeClr val="tx1"/>
                </a:solidFill>
                <a:latin typeface="Times New Roman" panose="02020603050405020304" pitchFamily="18" charset="0"/>
                <a:cs typeface="Times New Roman" panose="02020603050405020304" pitchFamily="18" charset="0"/>
              </a:rPr>
              <a:t>College of Information Technology, Western Governors University</a:t>
            </a:r>
            <a:br>
              <a:rPr lang="en-US" sz="1300" dirty="0">
                <a:solidFill>
                  <a:schemeClr val="tx1"/>
                </a:solidFill>
                <a:latin typeface="Times New Roman" panose="02020603050405020304" pitchFamily="18" charset="0"/>
                <a:cs typeface="Times New Roman" panose="02020603050405020304" pitchFamily="18" charset="0"/>
              </a:rPr>
            </a:br>
            <a:r>
              <a:rPr lang="en-US" sz="1300" dirty="0">
                <a:solidFill>
                  <a:schemeClr val="tx1"/>
                </a:solidFill>
                <a:latin typeface="Times New Roman" panose="02020603050405020304" pitchFamily="18" charset="0"/>
                <a:cs typeface="Times New Roman" panose="02020603050405020304" pitchFamily="18" charset="0"/>
              </a:rPr>
              <a:t>D214: Data Analytics Graduate Capstone</a:t>
            </a:r>
            <a:br>
              <a:rPr lang="en-US" sz="1300" dirty="0">
                <a:solidFill>
                  <a:schemeClr val="tx1"/>
                </a:solidFill>
                <a:latin typeface="Times New Roman" panose="02020603050405020304" pitchFamily="18" charset="0"/>
                <a:cs typeface="Times New Roman" panose="02020603050405020304" pitchFamily="18" charset="0"/>
              </a:rPr>
            </a:br>
            <a:r>
              <a:rPr lang="en-US" sz="1300" dirty="0">
                <a:solidFill>
                  <a:schemeClr val="tx1"/>
                </a:solidFill>
                <a:latin typeface="Times New Roman" panose="02020603050405020304" pitchFamily="18" charset="0"/>
                <a:cs typeface="Times New Roman" panose="02020603050405020304" pitchFamily="18" charset="0"/>
              </a:rPr>
              <a:t>Dr. Daniel Smith</a:t>
            </a:r>
            <a:br>
              <a:rPr lang="en-US" sz="1300" dirty="0">
                <a:solidFill>
                  <a:schemeClr val="tx1"/>
                </a:solidFill>
                <a:latin typeface="Times New Roman" panose="02020603050405020304" pitchFamily="18" charset="0"/>
                <a:cs typeface="Times New Roman" panose="02020603050405020304" pitchFamily="18" charset="0"/>
              </a:rPr>
            </a:br>
            <a:r>
              <a:rPr lang="en-US" sz="1300" dirty="0">
                <a:solidFill>
                  <a:schemeClr val="tx1"/>
                </a:solidFill>
                <a:latin typeface="Times New Roman" panose="02020603050405020304" pitchFamily="18" charset="0"/>
                <a:cs typeface="Times New Roman" panose="02020603050405020304" pitchFamily="18" charset="0"/>
              </a:rPr>
              <a:t>November 11, 2025</a:t>
            </a:r>
            <a:br>
              <a:rPr lang="en-US" sz="1200" dirty="0">
                <a:solidFill>
                  <a:schemeClr val="tx1"/>
                </a:solidFill>
                <a:latin typeface="Times New Roman" panose="02020603050405020304" pitchFamily="18" charset="0"/>
                <a:cs typeface="Times New Roman" panose="02020603050405020304" pitchFamily="18" charset="0"/>
              </a:rPr>
            </a:br>
            <a:endParaRPr lang="en-US" sz="1200" b="1"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E585227-0D59-434F-5D86-23D570A84A42}"/>
              </a:ext>
            </a:extLst>
          </p:cNvPr>
          <p:cNvSpPr>
            <a:spLocks noGrp="1"/>
          </p:cNvSpPr>
          <p:nvPr>
            <p:ph type="subTitle" idx="1"/>
          </p:nvPr>
        </p:nvSpPr>
        <p:spPr>
          <a:xfrm>
            <a:off x="2589213" y="1208598"/>
            <a:ext cx="8915399" cy="1104810"/>
          </a:xfrm>
        </p:spPr>
        <p:txBody>
          <a:bodyP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Predicting if the vehicle’s features influenced the sales volume for BMW vehicles between 2010 and 2024</a:t>
            </a:r>
          </a:p>
        </p:txBody>
      </p:sp>
      <p:grpSp>
        <p:nvGrpSpPr>
          <p:cNvPr id="48" name="Group 47">
            <a:extLst>
              <a:ext uri="{FF2B5EF4-FFF2-40B4-BE49-F238E27FC236}">
                <a16:creationId xmlns:a16="http://schemas.microsoft.com/office/drawing/2014/main" id="{502F7C86-D374-4969-AB87-CA4108CE95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7" name="Freeform 27">
              <a:extLst>
                <a:ext uri="{FF2B5EF4-FFF2-40B4-BE49-F238E27FC236}">
                  <a16:creationId xmlns:a16="http://schemas.microsoft.com/office/drawing/2014/main" id="{D99BC819-B2EA-4CCC-8B23-CF42F48D6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8" name="Freeform 28">
              <a:extLst>
                <a:ext uri="{FF2B5EF4-FFF2-40B4-BE49-F238E27FC236}">
                  <a16:creationId xmlns:a16="http://schemas.microsoft.com/office/drawing/2014/main" id="{1EA0AE3F-610C-4727-B82A-D91B4282E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49" name="Freeform 29">
              <a:extLst>
                <a:ext uri="{FF2B5EF4-FFF2-40B4-BE49-F238E27FC236}">
                  <a16:creationId xmlns:a16="http://schemas.microsoft.com/office/drawing/2014/main" id="{1AED653B-8E26-4407-B55E-5EF634840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50" name="Freeform 30">
              <a:extLst>
                <a:ext uri="{FF2B5EF4-FFF2-40B4-BE49-F238E27FC236}">
                  <a16:creationId xmlns:a16="http://schemas.microsoft.com/office/drawing/2014/main" id="{21EB9336-97C9-4E84-94CF-D3F74080F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51" name="Freeform 31">
              <a:extLst>
                <a:ext uri="{FF2B5EF4-FFF2-40B4-BE49-F238E27FC236}">
                  <a16:creationId xmlns:a16="http://schemas.microsoft.com/office/drawing/2014/main" id="{69BF6CA2-569A-4C82-A2AE-CDCF36CCBE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52" name="Freeform 32">
              <a:extLst>
                <a:ext uri="{FF2B5EF4-FFF2-40B4-BE49-F238E27FC236}">
                  <a16:creationId xmlns:a16="http://schemas.microsoft.com/office/drawing/2014/main" id="{421FFC08-FE31-4A95-B2F5-68A06B97A9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53" name="Freeform 33">
              <a:extLst>
                <a:ext uri="{FF2B5EF4-FFF2-40B4-BE49-F238E27FC236}">
                  <a16:creationId xmlns:a16="http://schemas.microsoft.com/office/drawing/2014/main" id="{2422EB91-1B28-4E12-A747-0ACA5D9E2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54" name="Freeform 34">
              <a:extLst>
                <a:ext uri="{FF2B5EF4-FFF2-40B4-BE49-F238E27FC236}">
                  <a16:creationId xmlns:a16="http://schemas.microsoft.com/office/drawing/2014/main" id="{6077349A-7224-44B1-9F3A-E1BDCB43B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55" name="Freeform 35">
              <a:extLst>
                <a:ext uri="{FF2B5EF4-FFF2-40B4-BE49-F238E27FC236}">
                  <a16:creationId xmlns:a16="http://schemas.microsoft.com/office/drawing/2014/main" id="{A05A2443-1E41-4A29-927D-4C9D7FA8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56" name="Freeform 36">
              <a:extLst>
                <a:ext uri="{FF2B5EF4-FFF2-40B4-BE49-F238E27FC236}">
                  <a16:creationId xmlns:a16="http://schemas.microsoft.com/office/drawing/2014/main" id="{849DD9E0-80A6-4A4C-91DD-CF69D1C337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57" name="Freeform 37">
              <a:extLst>
                <a:ext uri="{FF2B5EF4-FFF2-40B4-BE49-F238E27FC236}">
                  <a16:creationId xmlns:a16="http://schemas.microsoft.com/office/drawing/2014/main" id="{04A5B2BC-E2EA-4553-8199-C4F3B86D8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58" name="Freeform 38">
              <a:extLst>
                <a:ext uri="{FF2B5EF4-FFF2-40B4-BE49-F238E27FC236}">
                  <a16:creationId xmlns:a16="http://schemas.microsoft.com/office/drawing/2014/main" id="{69AA136B-030C-4644-821E-3247A1841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59" name="Rectangle 58">
            <a:extLst>
              <a:ext uri="{FF2B5EF4-FFF2-40B4-BE49-F238E27FC236}">
                <a16:creationId xmlns:a16="http://schemas.microsoft.com/office/drawing/2014/main" id="{9DEDD006-D91C-4989-B39C-EEEA43F86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Freeform 33">
            <a:extLst>
              <a:ext uri="{FF2B5EF4-FFF2-40B4-BE49-F238E27FC236}">
                <a16:creationId xmlns:a16="http://schemas.microsoft.com/office/drawing/2014/main" id="{35EF7FFE-55CC-444E-A630-F40A5C9C5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Title 1">
            <a:extLst>
              <a:ext uri="{FF2B5EF4-FFF2-40B4-BE49-F238E27FC236}">
                <a16:creationId xmlns:a16="http://schemas.microsoft.com/office/drawing/2014/main" id="{292DC277-4BA0-931F-2F94-0802145B084C}"/>
              </a:ext>
            </a:extLst>
          </p:cNvPr>
          <p:cNvSpPr txBox="1">
            <a:spLocks/>
          </p:cNvSpPr>
          <p:nvPr/>
        </p:nvSpPr>
        <p:spPr>
          <a:xfrm>
            <a:off x="1877718" y="2640274"/>
            <a:ext cx="10113134" cy="560983"/>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cap="all" dirty="0">
                <a:solidFill>
                  <a:schemeClr val="tx1"/>
                </a:solidFill>
                <a:latin typeface="Times New Roman" panose="02020603050405020304" pitchFamily="18" charset="0"/>
                <a:cs typeface="Times New Roman" panose="02020603050405020304" pitchFamily="18" charset="0"/>
              </a:rPr>
              <a:t>Executive Summary and Implications</a:t>
            </a: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5299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1602-A685-F8B6-28DE-94C0C7EB5D25}"/>
              </a:ext>
            </a:extLst>
          </p:cNvPr>
          <p:cNvSpPr>
            <a:spLocks noGrp="1"/>
          </p:cNvSpPr>
          <p:nvPr>
            <p:ph type="title"/>
          </p:nvPr>
        </p:nvSpPr>
        <p:spPr>
          <a:xfrm>
            <a:off x="2592926" y="842838"/>
            <a:ext cx="7974358" cy="540689"/>
          </a:xfrm>
        </p:spPr>
        <p:txBody>
          <a:bodyPr>
            <a:normAutofit fontScale="90000"/>
          </a:bodyPr>
          <a:lstStyle/>
          <a:p>
            <a:pPr algn="ctr"/>
            <a:r>
              <a:rPr lang="en-US" sz="3200" b="1" dirty="0">
                <a:solidFill>
                  <a:schemeClr val="tx1"/>
                </a:solidFill>
                <a:latin typeface="Times New Roman" panose="02020603050405020304" pitchFamily="18" charset="0"/>
                <a:cs typeface="Times New Roman" panose="02020603050405020304" pitchFamily="18" charset="0"/>
              </a:rPr>
              <a:t>Statement of the problem and the hypothesis</a:t>
            </a:r>
          </a:p>
        </p:txBody>
      </p:sp>
      <p:sp>
        <p:nvSpPr>
          <p:cNvPr id="3" name="Content Placeholder 2">
            <a:extLst>
              <a:ext uri="{FF2B5EF4-FFF2-40B4-BE49-F238E27FC236}">
                <a16:creationId xmlns:a16="http://schemas.microsoft.com/office/drawing/2014/main" id="{D8FAD4B7-2B43-EC3D-7E6B-CD2F00ABA9EE}"/>
              </a:ext>
            </a:extLst>
          </p:cNvPr>
          <p:cNvSpPr>
            <a:spLocks noGrp="1"/>
          </p:cNvSpPr>
          <p:nvPr>
            <p:ph idx="1"/>
          </p:nvPr>
        </p:nvSpPr>
        <p:spPr>
          <a:xfrm>
            <a:off x="2589212" y="1550504"/>
            <a:ext cx="8915400" cy="4360718"/>
          </a:xfrm>
        </p:spPr>
        <p:txBody>
          <a:bodyPr>
            <a:normAutofit fontScale="77500" lnSpcReduction="20000"/>
          </a:bodyPr>
          <a:lstStyle/>
          <a:p>
            <a:pPr>
              <a:lnSpc>
                <a:spcPct val="200000"/>
              </a:lnSpc>
            </a:pPr>
            <a:r>
              <a:rPr lang="en-US" b="1" dirty="0">
                <a:latin typeface="Times New Roman" panose="02020603050405020304" pitchFamily="18" charset="0"/>
                <a:cs typeface="Times New Roman" panose="02020603050405020304" pitchFamily="18" charset="0"/>
              </a:rPr>
              <a:t>Statement of the Problem</a:t>
            </a:r>
          </a:p>
          <a:p>
            <a:pPr marL="0" indent="0">
              <a:lnSpc>
                <a:spcPct val="200000"/>
              </a:lnSpc>
              <a:buNone/>
            </a:pPr>
            <a:r>
              <a:rPr lang="en-US" sz="1500" dirty="0">
                <a:solidFill>
                  <a:schemeClr val="tx1"/>
                </a:solidFill>
                <a:latin typeface="Times New Roman" panose="02020603050405020304" pitchFamily="18" charset="0"/>
                <a:cs typeface="Times New Roman" panose="02020603050405020304" pitchFamily="18" charset="0"/>
              </a:rPr>
              <a:t>Can we utilize the random forest regressor machine learning model to predict the features that influenced the BMW sales volumes between 2010 and 2024 across various regions? </a:t>
            </a:r>
          </a:p>
          <a:p>
            <a:pPr marL="0" indent="0">
              <a:lnSpc>
                <a:spcPct val="200000"/>
              </a:lnSpc>
              <a:buNone/>
            </a:pPr>
            <a:r>
              <a:rPr lang="en-US" sz="1500" dirty="0">
                <a:solidFill>
                  <a:schemeClr val="tx1"/>
                </a:solidFill>
                <a:latin typeface="Times New Roman" panose="02020603050405020304" pitchFamily="18" charset="0"/>
                <a:cs typeface="Times New Roman" panose="02020603050405020304" pitchFamily="18" charset="0"/>
              </a:rPr>
              <a:t>For this analysis, the following null and alternative hypotheses were utilized.</a:t>
            </a:r>
          </a:p>
          <a:p>
            <a:pPr>
              <a:lnSpc>
                <a:spcPct val="200000"/>
              </a:lnSpc>
            </a:pPr>
            <a:r>
              <a:rPr lang="en-US" b="1" dirty="0">
                <a:latin typeface="Times New Roman" panose="02020603050405020304" pitchFamily="18" charset="0"/>
                <a:cs typeface="Times New Roman" panose="02020603050405020304" pitchFamily="18" charset="0"/>
              </a:rPr>
              <a:t>Null hypothesis</a:t>
            </a:r>
          </a:p>
          <a:p>
            <a:pPr marL="0" indent="0">
              <a:lnSpc>
                <a:spcPct val="200000"/>
              </a:lnSpc>
              <a:buNone/>
            </a:pPr>
            <a:r>
              <a:rPr lang="en-US" sz="1500" dirty="0">
                <a:latin typeface="Times New Roman" panose="02020603050405020304" pitchFamily="18" charset="0"/>
                <a:cs typeface="Times New Roman" panose="02020603050405020304" pitchFamily="18" charset="0"/>
              </a:rPr>
              <a:t>The sales volume for various BMW vehicles is not significantly influenced by the vehicle’s features, such as the model, color, fuel_type, transmission, Engine_Size_L, Mileage_KM, and Price_USD, in the various regions from 2010 to 2024. </a:t>
            </a:r>
          </a:p>
          <a:p>
            <a:pPr>
              <a:lnSpc>
                <a:spcPct val="200000"/>
              </a:lnSpc>
            </a:pPr>
            <a:r>
              <a:rPr lang="en-US" b="1" dirty="0">
                <a:latin typeface="Times New Roman" panose="02020603050405020304" pitchFamily="18" charset="0"/>
                <a:cs typeface="Times New Roman" panose="02020603050405020304" pitchFamily="18" charset="0"/>
              </a:rPr>
              <a:t>Alternate Hypothesis</a:t>
            </a:r>
          </a:p>
          <a:p>
            <a:pPr marL="0" indent="0">
              <a:lnSpc>
                <a:spcPct val="200000"/>
              </a:lnSpc>
              <a:buNone/>
            </a:pPr>
            <a:r>
              <a:rPr lang="en-US" sz="1500" dirty="0">
                <a:solidFill>
                  <a:schemeClr val="tx1"/>
                </a:solidFill>
                <a:latin typeface="Times New Roman" panose="02020603050405020304" pitchFamily="18" charset="0"/>
                <a:cs typeface="Times New Roman" panose="02020603050405020304" pitchFamily="18" charset="0"/>
              </a:rPr>
              <a:t>The sales volume for various BMW vehicles is significantly influenced by the vehicle’s features, such as the model, color, fuel_type, transmission, Engine_Size_L, Mileage_KM, and Price_USD, in the various regions from 2010 to 2024. </a:t>
            </a:r>
          </a:p>
        </p:txBody>
      </p:sp>
      <p:sp>
        <p:nvSpPr>
          <p:cNvPr id="4" name="Title 1">
            <a:extLst>
              <a:ext uri="{FF2B5EF4-FFF2-40B4-BE49-F238E27FC236}">
                <a16:creationId xmlns:a16="http://schemas.microsoft.com/office/drawing/2014/main" id="{187EE914-3A53-DE64-54D9-8E7B67FC896C}"/>
              </a:ext>
            </a:extLst>
          </p:cNvPr>
          <p:cNvSpPr txBox="1">
            <a:spLocks/>
          </p:cNvSpPr>
          <p:nvPr/>
        </p:nvSpPr>
        <p:spPr>
          <a:xfrm>
            <a:off x="1391479" y="326004"/>
            <a:ext cx="10113134" cy="516834"/>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b="1" cap="all" dirty="0">
                <a:solidFill>
                  <a:schemeClr val="tx1"/>
                </a:solidFill>
                <a:latin typeface="Times New Roman" panose="02020603050405020304" pitchFamily="18" charset="0"/>
                <a:cs typeface="Times New Roman" panose="02020603050405020304" pitchFamily="18" charset="0"/>
              </a:rPr>
              <a:t>Executive Summary and Implications</a:t>
            </a:r>
            <a:endParaRPr lang="en-US"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309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684C-1C07-7536-B66D-619C0773BFEE}"/>
              </a:ext>
            </a:extLst>
          </p:cNvPr>
          <p:cNvSpPr>
            <a:spLocks noGrp="1"/>
          </p:cNvSpPr>
          <p:nvPr>
            <p:ph type="title"/>
          </p:nvPr>
        </p:nvSpPr>
        <p:spPr>
          <a:xfrm>
            <a:off x="2592926" y="652006"/>
            <a:ext cx="7083812" cy="675861"/>
          </a:xfrm>
        </p:spPr>
        <p:txBody>
          <a:bodyPr>
            <a:norm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Data</a:t>
            </a:r>
            <a:r>
              <a:rPr lang="en-US" dirty="0"/>
              <a:t> </a:t>
            </a:r>
            <a:r>
              <a:rPr lang="en-US" sz="3200" b="1" dirty="0">
                <a:solidFill>
                  <a:schemeClr val="tx1"/>
                </a:solidFill>
                <a:latin typeface="Times New Roman" panose="02020603050405020304" pitchFamily="18" charset="0"/>
                <a:cs typeface="Times New Roman" panose="02020603050405020304" pitchFamily="18" charset="0"/>
              </a:rPr>
              <a:t>analysis</a:t>
            </a:r>
            <a:r>
              <a:rPr lang="en-US" dirty="0"/>
              <a:t> </a:t>
            </a:r>
            <a:r>
              <a:rPr lang="en-US" sz="3200" b="1" dirty="0">
                <a:solidFill>
                  <a:schemeClr val="tx1"/>
                </a:solidFill>
                <a:latin typeface="Times New Roman" panose="02020603050405020304" pitchFamily="18" charset="0"/>
                <a:cs typeface="Times New Roman" panose="02020603050405020304" pitchFamily="18" charset="0"/>
              </a:rPr>
              <a:t>process</a:t>
            </a:r>
          </a:p>
        </p:txBody>
      </p:sp>
      <p:sp>
        <p:nvSpPr>
          <p:cNvPr id="3" name="Content Placeholder 2">
            <a:extLst>
              <a:ext uri="{FF2B5EF4-FFF2-40B4-BE49-F238E27FC236}">
                <a16:creationId xmlns:a16="http://schemas.microsoft.com/office/drawing/2014/main" id="{F3751544-0BDF-B325-B4C3-561A2945C03E}"/>
              </a:ext>
            </a:extLst>
          </p:cNvPr>
          <p:cNvSpPr>
            <a:spLocks noGrp="1"/>
          </p:cNvSpPr>
          <p:nvPr>
            <p:ph idx="1"/>
          </p:nvPr>
        </p:nvSpPr>
        <p:spPr>
          <a:xfrm>
            <a:off x="1765191" y="1264257"/>
            <a:ext cx="9739422" cy="5041127"/>
          </a:xfrm>
        </p:spPr>
        <p:txBody>
          <a:bodyPr>
            <a:noAutofit/>
          </a:bodyPr>
          <a:lstStyle/>
          <a:p>
            <a:pPr marL="0" indent="0">
              <a:lnSpc>
                <a:spcPct val="150000"/>
              </a:lnSpc>
              <a:buNone/>
            </a:pPr>
            <a:r>
              <a:rPr lang="en-US" sz="1200" dirty="0">
                <a:solidFill>
                  <a:schemeClr val="tx1"/>
                </a:solidFill>
                <a:latin typeface="Times New Roman" panose="02020603050405020304" pitchFamily="18" charset="0"/>
                <a:cs typeface="Times New Roman" panose="02020603050405020304" pitchFamily="18" charset="0"/>
              </a:rPr>
              <a:t>The data was extracted from the Kaggle.com website, available at this link: </a:t>
            </a:r>
            <a:r>
              <a:rPr lang="en-US" sz="1200" u="sng" dirty="0">
                <a:solidFill>
                  <a:srgbClr val="0000CC"/>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https://www.kaggle.com/datasets/ahmadrazakashif/bmw-worldwide-sales-records-20102024</a:t>
            </a:r>
            <a:r>
              <a:rPr lang="en-US" sz="1200" dirty="0">
                <a:latin typeface="Times New Roman" panose="02020603050405020304" pitchFamily="18" charset="0"/>
                <a:cs typeface="Times New Roman" panose="02020603050405020304" pitchFamily="18" charset="0"/>
              </a:rPr>
              <a:t>. </a:t>
            </a:r>
            <a:r>
              <a:rPr lang="en-US" sz="1200" dirty="0">
                <a:solidFill>
                  <a:schemeClr val="tx1"/>
                </a:solidFill>
                <a:latin typeface="Times New Roman" panose="02020603050405020304" pitchFamily="18" charset="0"/>
                <a:cs typeface="Times New Roman" panose="02020603050405020304" pitchFamily="18" charset="0"/>
              </a:rPr>
              <a:t>and downloaded to a CSV file.  The data was loaded from the CSV file into a python dataframe called  ‘</a:t>
            </a:r>
            <a:r>
              <a:rPr lang="en-US" sz="1200" dirty="0" err="1">
                <a:solidFill>
                  <a:schemeClr val="tx1"/>
                </a:solidFill>
                <a:latin typeface="Times New Roman" panose="02020603050405020304" pitchFamily="18" charset="0"/>
                <a:cs typeface="Times New Roman" panose="02020603050405020304" pitchFamily="18" charset="0"/>
              </a:rPr>
              <a:t>BMW_df</a:t>
            </a:r>
            <a:r>
              <a:rPr lang="en-US" sz="1200" dirty="0">
                <a:solidFill>
                  <a:schemeClr val="tx1"/>
                </a:solidFill>
                <a:latin typeface="Times New Roman" panose="02020603050405020304" pitchFamily="18" charset="0"/>
                <a:cs typeface="Times New Roman" panose="02020603050405020304" pitchFamily="18" charset="0"/>
              </a:rPr>
              <a:t>’. After loading the data, I checked for data types, missing values, duplicated data, trimmed and cleaned the white spaces, and dropped the features that I will not use for analysis. In exploring the data, I examined the data's shape, the correlation between features, and visualized it to assess the distribution.  To prepare the data for processing, I converted the categorical data to numeric data using dummy encoding. For the binary column, I dropped the first column to prevent multicollinearity; however, for the non-binary columns, no first column was dropped. I also standardized the numerical columns through scaling and normalization to enable data analysis. Feature selection was performed using SelectKBest, which involves selecting the top 15 features based on a statistical test to improve model performance and reduce overfitting</a:t>
            </a:r>
            <a:r>
              <a:rPr lang="en-US" sz="1200" dirty="0">
                <a:latin typeface="Times New Roman" panose="02020603050405020304" pitchFamily="18" charset="0"/>
                <a:cs typeface="Times New Roman" panose="02020603050405020304" pitchFamily="18" charset="0"/>
              </a:rPr>
              <a:t>. </a:t>
            </a:r>
            <a:r>
              <a:rPr lang="en-US" sz="1200" dirty="0">
                <a:solidFill>
                  <a:schemeClr val="tx1"/>
                </a:solidFill>
                <a:latin typeface="Times New Roman" panose="02020603050405020304" pitchFamily="18" charset="0"/>
                <a:cs typeface="Times New Roman" panose="02020603050405020304" pitchFamily="18" charset="0"/>
              </a:rPr>
              <a:t>The data was split into X_train, X_test, y_train, and y_test, with a test size of 20%, to separate the training data used to build the model from the testing data used to evaluate the model's performance. This will ensure the model is trained and validated on distinct datasets, preventing overfitting and generalizing well to new data. The Random Forest Regressor model was initialized and fitted to the training dataset. The initial model was evaluated using the metrics R² score, MSE, RMSE, and MAE. Based on the initial R² score of –0.1797, the high MSE of 9,636,368, RMSE of 3,104, and MAE of 2,624, the results indicate that there is no correlation between the vehicle features and the sales volume. RandomizedSearchCV was used to optimize the model. The final model used the values below for the hyperparameters: max_depth=10, max_features = 'log2', min_samples_leaf=4,n_estimators=400, random_state=42, and bootstrap = True. The final model was evaluated using the metrics R² score, MSE, RMSE, and MAE. The final model improved slightly after optimization, with an R² Score of – 0.0036, a high MSE of 8200764.15, an RMSE of 2863.70, and an MAE of 2479.33. The results indicate that there is no correlation between the vehicle features and the sales volume. I then created a feature importance visualization to display the impact of each feature on sales volumes.</a:t>
            </a:r>
          </a:p>
          <a:p>
            <a:pPr marL="0" indent="0">
              <a:buNone/>
            </a:pP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1200" dirty="0">
              <a:solidFill>
                <a:schemeClr val="tx1"/>
              </a:solidFill>
              <a:latin typeface="Times New Roman" panose="02020603050405020304" pitchFamily="18" charset="0"/>
              <a:cs typeface="Times New Roman" panose="02020603050405020304" pitchFamily="18" charset="0"/>
            </a:endParaRPr>
          </a:p>
          <a:p>
            <a:endParaRPr lang="en-US" sz="12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1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544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a:extLst>
            <a:ext uri="{FF2B5EF4-FFF2-40B4-BE49-F238E27FC236}">
              <a16:creationId xmlns:a16="http://schemas.microsoft.com/office/drawing/2014/main" id="{02A1A3DB-A061-43D0-C6C1-041716418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A96A7-6D48-7774-792B-CF131F5FB400}"/>
              </a:ext>
            </a:extLst>
          </p:cNvPr>
          <p:cNvSpPr>
            <a:spLocks noGrp="1"/>
          </p:cNvSpPr>
          <p:nvPr>
            <p:ph type="title"/>
          </p:nvPr>
        </p:nvSpPr>
        <p:spPr>
          <a:xfrm>
            <a:off x="1687669" y="1113182"/>
            <a:ext cx="8497952" cy="516767"/>
          </a:xfrm>
        </p:spPr>
        <p:txBody>
          <a:bodyPr>
            <a:normAutofit fontScale="90000"/>
          </a:bodyPr>
          <a:lstStyle/>
          <a:p>
            <a:pPr algn="ctr"/>
            <a:r>
              <a:rPr lang="en-US" sz="3200" b="1" dirty="0">
                <a:solidFill>
                  <a:schemeClr val="tx1"/>
                </a:solidFill>
                <a:latin typeface="Times New Roman" panose="02020603050405020304" pitchFamily="18" charset="0"/>
                <a:cs typeface="Times New Roman" panose="02020603050405020304" pitchFamily="18" charset="0"/>
              </a:rPr>
              <a:t>Findings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E16F62-4568-3228-A55B-7B0B635F969E}"/>
              </a:ext>
            </a:extLst>
          </p:cNvPr>
          <p:cNvSpPr>
            <a:spLocks noGrp="1"/>
          </p:cNvSpPr>
          <p:nvPr>
            <p:ph idx="1"/>
          </p:nvPr>
        </p:nvSpPr>
        <p:spPr>
          <a:xfrm>
            <a:off x="1687669" y="1673157"/>
            <a:ext cx="5460554" cy="4560733"/>
          </a:xfrm>
        </p:spPr>
        <p:txBody>
          <a:bodyPr>
            <a:normAutofit fontScale="92500" lnSpcReduction="20000"/>
          </a:bodyPr>
          <a:lstStyle/>
          <a:p>
            <a:pPr lvl="0">
              <a:lnSpc>
                <a:spcPct val="200000"/>
              </a:lnSpc>
            </a:pPr>
            <a:r>
              <a:rPr lang="en-US" sz="1400" dirty="0">
                <a:solidFill>
                  <a:schemeClr val="tx1"/>
                </a:solidFill>
                <a:latin typeface="Times New Roman" panose="02020603050405020304" pitchFamily="18" charset="0"/>
                <a:cs typeface="Times New Roman" panose="02020603050405020304" pitchFamily="18" charset="0"/>
              </a:rPr>
              <a:t>Feature importance visualization</a:t>
            </a:r>
          </a:p>
          <a:p>
            <a:pPr marL="0" indent="0">
              <a:lnSpc>
                <a:spcPct val="200000"/>
              </a:lnSpc>
              <a:buNone/>
            </a:pPr>
            <a:r>
              <a:rPr lang="en-US" sz="1400" dirty="0">
                <a:solidFill>
                  <a:schemeClr val="tx1"/>
                </a:solidFill>
                <a:latin typeface="Times New Roman" panose="02020603050405020304" pitchFamily="18" charset="0"/>
                <a:cs typeface="Times New Roman" panose="02020603050405020304" pitchFamily="18" charset="0"/>
              </a:rPr>
              <a:t>When creating a feature importance visualization, the visual indicates that Engine_Size_L has a minimal influence on the sales volume. All other features do not appear to have any influence on sales volume.</a:t>
            </a:r>
          </a:p>
          <a:p>
            <a:pPr>
              <a:lnSpc>
                <a:spcPct val="200000"/>
              </a:lnSpc>
            </a:pPr>
            <a:r>
              <a:rPr lang="en-US" sz="1400" dirty="0">
                <a:solidFill>
                  <a:schemeClr val="tx1"/>
                </a:solidFill>
                <a:latin typeface="Times New Roman" panose="02020603050405020304" pitchFamily="18" charset="0"/>
                <a:cs typeface="Times New Roman" panose="02020603050405020304" pitchFamily="18" charset="0"/>
              </a:rPr>
              <a:t>The final model was evaluated using the metrics R² score, Mean Squared Error (MSE), Root Mean Squared Error (RMSE) and Mean Absolute Error (MAE). </a:t>
            </a:r>
          </a:p>
          <a:p>
            <a:pPr marL="0" indent="0">
              <a:lnSpc>
                <a:spcPct val="200000"/>
              </a:lnSpc>
              <a:buNone/>
            </a:pPr>
            <a:r>
              <a:rPr lang="en-US" sz="1400" dirty="0">
                <a:solidFill>
                  <a:schemeClr val="tx1"/>
                </a:solidFill>
                <a:latin typeface="Times New Roman" panose="02020603050405020304" pitchFamily="18" charset="0"/>
                <a:cs typeface="Times New Roman" panose="02020603050405020304" pitchFamily="18" charset="0"/>
              </a:rPr>
              <a:t>The final model improved slightly after optimization, with an R² Score of </a:t>
            </a:r>
          </a:p>
          <a:p>
            <a:pPr marL="0" indent="0">
              <a:lnSpc>
                <a:spcPct val="200000"/>
              </a:lnSpc>
              <a:buNone/>
            </a:pPr>
            <a:r>
              <a:rPr lang="en-US" sz="1400" dirty="0">
                <a:solidFill>
                  <a:schemeClr val="tx1"/>
                </a:solidFill>
                <a:latin typeface="Times New Roman" panose="02020603050405020304" pitchFamily="18" charset="0"/>
                <a:cs typeface="Times New Roman" panose="02020603050405020304" pitchFamily="18" charset="0"/>
              </a:rPr>
              <a:t>-0.0036, a high MSE of 8200764.15, an RMSE of 2863.70, and an MAE of 2479.33. The results indicate that there is no correlation between the vehicle features and the sales volume, thereby supporting the null hypothesis.</a:t>
            </a:r>
          </a:p>
          <a:p>
            <a:endParaRPr lang="en-US" sz="1600" dirty="0">
              <a:solidFill>
                <a:schemeClr val="tx1"/>
              </a:solidFill>
            </a:endParaRPr>
          </a:p>
          <a:p>
            <a:pPr marL="0" indent="0">
              <a:buNone/>
            </a:pPr>
            <a:endParaRPr lang="en-US" sz="1600" dirty="0">
              <a:solidFill>
                <a:schemeClr val="tx1"/>
              </a:solidFill>
            </a:endParaRPr>
          </a:p>
          <a:p>
            <a:pPr marL="0" indent="0">
              <a:buNone/>
            </a:pPr>
            <a:endParaRPr lang="en-US" sz="1600" dirty="0">
              <a:solidFill>
                <a:srgbClr val="000000"/>
              </a:solidFill>
            </a:endParaRPr>
          </a:p>
        </p:txBody>
      </p:sp>
      <p:pic>
        <p:nvPicPr>
          <p:cNvPr id="5" name="Picture 4">
            <a:extLst>
              <a:ext uri="{FF2B5EF4-FFF2-40B4-BE49-F238E27FC236}">
                <a16:creationId xmlns:a16="http://schemas.microsoft.com/office/drawing/2014/main" id="{A23AB511-D254-C1AD-CC73-35927AA652DA}"/>
              </a:ext>
            </a:extLst>
          </p:cNvPr>
          <p:cNvPicPr>
            <a:picLocks noChangeAspect="1"/>
          </p:cNvPicPr>
          <p:nvPr/>
        </p:nvPicPr>
        <p:blipFill>
          <a:blip r:embed="rId2"/>
          <a:stretch>
            <a:fillRect/>
          </a:stretch>
        </p:blipFill>
        <p:spPr>
          <a:xfrm>
            <a:off x="7148223" y="1820848"/>
            <a:ext cx="4395320" cy="4333461"/>
          </a:xfrm>
          <a:prstGeom prst="rect">
            <a:avLst/>
          </a:prstGeom>
        </p:spPr>
      </p:pic>
    </p:spTree>
    <p:extLst>
      <p:ext uri="{BB962C8B-B14F-4D97-AF65-F5344CB8AC3E}">
        <p14:creationId xmlns:p14="http://schemas.microsoft.com/office/powerpoint/2010/main" val="3295656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6D40-11D0-B5FB-BC7C-3BCE9F981714}"/>
              </a:ext>
            </a:extLst>
          </p:cNvPr>
          <p:cNvSpPr>
            <a:spLocks noGrp="1"/>
          </p:cNvSpPr>
          <p:nvPr>
            <p:ph type="title"/>
          </p:nvPr>
        </p:nvSpPr>
        <p:spPr>
          <a:xfrm>
            <a:off x="2589212" y="1260215"/>
            <a:ext cx="8911687" cy="1280890"/>
          </a:xfrm>
        </p:spPr>
        <p:txBody>
          <a:bodyPr/>
          <a:lstStyle/>
          <a:p>
            <a:pPr algn="ctr"/>
            <a:r>
              <a:rPr lang="en-US" sz="3200" b="1" dirty="0">
                <a:solidFill>
                  <a:schemeClr val="tx1"/>
                </a:solidFill>
                <a:latin typeface="Times New Roman" panose="02020603050405020304" pitchFamily="18" charset="0"/>
                <a:cs typeface="Times New Roman" panose="02020603050405020304" pitchFamily="18" charset="0"/>
              </a:rPr>
              <a:t>Limitations</a:t>
            </a:r>
            <a:r>
              <a:rPr lang="en-US" dirty="0">
                <a:solidFill>
                  <a:schemeClr val="tx1"/>
                </a:solidFill>
              </a:rPr>
              <a:t> </a:t>
            </a:r>
            <a:r>
              <a:rPr lang="en-US" sz="3200" b="1" dirty="0">
                <a:solidFill>
                  <a:schemeClr val="tx1"/>
                </a:solidFill>
                <a:latin typeface="Times New Roman" panose="02020603050405020304" pitchFamily="18" charset="0"/>
                <a:cs typeface="Times New Roman" panose="02020603050405020304" pitchFamily="18" charset="0"/>
              </a:rPr>
              <a:t>of</a:t>
            </a:r>
            <a:r>
              <a:rPr lang="en-US" dirty="0">
                <a:solidFill>
                  <a:schemeClr val="tx1"/>
                </a:solidFill>
              </a:rPr>
              <a:t> </a:t>
            </a:r>
            <a:r>
              <a:rPr lang="en-US" sz="3200" b="1" dirty="0">
                <a:solidFill>
                  <a:schemeClr val="tx1"/>
                </a:solidFill>
                <a:latin typeface="Times New Roman" panose="02020603050405020304" pitchFamily="18" charset="0"/>
                <a:cs typeface="Times New Roman" panose="02020603050405020304" pitchFamily="18" charset="0"/>
              </a:rPr>
              <a:t>the</a:t>
            </a:r>
            <a:r>
              <a:rPr lang="en-US" dirty="0">
                <a:solidFill>
                  <a:schemeClr val="tx1"/>
                </a:solidFill>
              </a:rPr>
              <a:t> </a:t>
            </a:r>
            <a:r>
              <a:rPr lang="en-US" sz="3200" b="1" dirty="0">
                <a:solidFill>
                  <a:schemeClr val="tx1"/>
                </a:solidFill>
                <a:latin typeface="Times New Roman" panose="02020603050405020304" pitchFamily="18" charset="0"/>
                <a:cs typeface="Times New Roman" panose="02020603050405020304" pitchFamily="18" charset="0"/>
              </a:rPr>
              <a:t>technique and tool used</a:t>
            </a:r>
          </a:p>
        </p:txBody>
      </p:sp>
      <p:sp>
        <p:nvSpPr>
          <p:cNvPr id="3" name="Content Placeholder 2">
            <a:extLst>
              <a:ext uri="{FF2B5EF4-FFF2-40B4-BE49-F238E27FC236}">
                <a16:creationId xmlns:a16="http://schemas.microsoft.com/office/drawing/2014/main" id="{301BC86D-1274-EE96-B5C9-4DD1405E3DDE}"/>
              </a:ext>
            </a:extLst>
          </p:cNvPr>
          <p:cNvSpPr>
            <a:spLocks noGrp="1"/>
          </p:cNvSpPr>
          <p:nvPr>
            <p:ph idx="1"/>
          </p:nvPr>
        </p:nvSpPr>
        <p:spPr>
          <a:xfrm>
            <a:off x="2321782" y="2133600"/>
            <a:ext cx="8412480" cy="3777622"/>
          </a:xfrm>
        </p:spPr>
        <p:txBody>
          <a:bodyPr>
            <a:normAutofit/>
          </a:bodyPr>
          <a:lstStyle/>
          <a:p>
            <a:pPr>
              <a:lnSpc>
                <a:spcPct val="200000"/>
              </a:lnSpc>
            </a:pPr>
            <a:r>
              <a:rPr lang="en-US" sz="1400" dirty="0">
                <a:solidFill>
                  <a:schemeClr val="tx1"/>
                </a:solidFill>
                <a:latin typeface="Times New Roman" panose="02020603050405020304" pitchFamily="18" charset="0"/>
                <a:cs typeface="Times New Roman" panose="02020603050405020304" pitchFamily="18" charset="0"/>
              </a:rPr>
              <a:t>For this analysis, I chose to use a Python tool to perform a random forest regression analysis on the BMW Sales volume between 2010 and 2024 dataset. The Limitation of the random forest regressor machine learning model is that the model is computationally expensive, which makes it slow for large datasets. The Limitation of the Python tool is that it can be inefficient in analyzing large datasets. While tuning the model performance, the limitations of the technique and the tool were encountered.</a:t>
            </a:r>
          </a:p>
        </p:txBody>
      </p:sp>
    </p:spTree>
    <p:extLst>
      <p:ext uri="{BB962C8B-B14F-4D97-AF65-F5344CB8AC3E}">
        <p14:creationId xmlns:p14="http://schemas.microsoft.com/office/powerpoint/2010/main" val="3431635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9354-E366-EAEE-6AA4-21609C7B27CC}"/>
              </a:ext>
            </a:extLst>
          </p:cNvPr>
          <p:cNvSpPr>
            <a:spLocks noGrp="1"/>
          </p:cNvSpPr>
          <p:nvPr>
            <p:ph type="title"/>
          </p:nvPr>
        </p:nvSpPr>
        <p:spPr>
          <a:xfrm>
            <a:off x="2623929" y="1089329"/>
            <a:ext cx="7880401" cy="583828"/>
          </a:xfrm>
        </p:spPr>
        <p:txBody>
          <a:bodyPr>
            <a:normAutofit/>
          </a:bodyPr>
          <a:lstStyle/>
          <a:p>
            <a:pPr algn="ctr"/>
            <a:r>
              <a:rPr lang="en-US" sz="3200" b="1" dirty="0">
                <a:solidFill>
                  <a:schemeClr val="tx1"/>
                </a:solidFill>
                <a:latin typeface="Times New Roman" panose="02020603050405020304" pitchFamily="18" charset="0"/>
                <a:cs typeface="Times New Roman" panose="02020603050405020304" pitchFamily="18" charset="0"/>
              </a:rPr>
              <a:t>Summary</a:t>
            </a:r>
            <a:r>
              <a:rPr lang="en-US" sz="3200" dirty="0"/>
              <a:t> </a:t>
            </a:r>
            <a:r>
              <a:rPr lang="en-US" sz="3200" b="1" dirty="0">
                <a:solidFill>
                  <a:schemeClr val="tx1"/>
                </a:solidFill>
                <a:latin typeface="Times New Roman" panose="02020603050405020304" pitchFamily="18" charset="0"/>
                <a:cs typeface="Times New Roman" panose="02020603050405020304" pitchFamily="18" charset="0"/>
              </a:rPr>
              <a:t>of</a:t>
            </a:r>
            <a:r>
              <a:rPr lang="en-US" sz="3200" dirty="0"/>
              <a:t> </a:t>
            </a:r>
            <a:r>
              <a:rPr lang="en-US" sz="3200" b="1" dirty="0">
                <a:solidFill>
                  <a:schemeClr val="tx1"/>
                </a:solidFill>
                <a:latin typeface="Times New Roman" panose="02020603050405020304" pitchFamily="18" charset="0"/>
                <a:cs typeface="Times New Roman" panose="02020603050405020304" pitchFamily="18" charset="0"/>
              </a:rPr>
              <a:t>the</a:t>
            </a:r>
            <a:r>
              <a:rPr lang="en-US" sz="3200" dirty="0"/>
              <a:t> </a:t>
            </a:r>
            <a:r>
              <a:rPr lang="en-US" sz="3200" b="1" dirty="0">
                <a:solidFill>
                  <a:schemeClr val="tx1"/>
                </a:solidFill>
                <a:latin typeface="Times New Roman" panose="02020603050405020304" pitchFamily="18" charset="0"/>
                <a:cs typeface="Times New Roman" panose="02020603050405020304" pitchFamily="18" charset="0"/>
              </a:rPr>
              <a:t>proposed</a:t>
            </a:r>
            <a:r>
              <a:rPr lang="en-US" sz="3200" dirty="0"/>
              <a:t> </a:t>
            </a:r>
            <a:r>
              <a:rPr lang="en-US" sz="3200" b="1" dirty="0">
                <a:solidFill>
                  <a:schemeClr val="tx1"/>
                </a:solidFill>
                <a:latin typeface="Times New Roman" panose="02020603050405020304" pitchFamily="18" charset="0"/>
                <a:cs typeface="Times New Roman" panose="02020603050405020304" pitchFamily="18" charset="0"/>
              </a:rPr>
              <a:t>action</a:t>
            </a:r>
          </a:p>
        </p:txBody>
      </p:sp>
      <p:sp>
        <p:nvSpPr>
          <p:cNvPr id="3" name="Content Placeholder 2">
            <a:extLst>
              <a:ext uri="{FF2B5EF4-FFF2-40B4-BE49-F238E27FC236}">
                <a16:creationId xmlns:a16="http://schemas.microsoft.com/office/drawing/2014/main" id="{99E14BC1-5BD7-7623-EA94-6DDB96027224}"/>
              </a:ext>
            </a:extLst>
          </p:cNvPr>
          <p:cNvSpPr>
            <a:spLocks noGrp="1"/>
          </p:cNvSpPr>
          <p:nvPr>
            <p:ph idx="1"/>
          </p:nvPr>
        </p:nvSpPr>
        <p:spPr>
          <a:xfrm>
            <a:off x="2337683" y="1673156"/>
            <a:ext cx="8706679" cy="3542900"/>
          </a:xfrm>
        </p:spPr>
        <p:txBody>
          <a:bodyPr>
            <a:normAutofit fontScale="85000" lnSpcReduction="10000"/>
          </a:bodyPr>
          <a:lstStyle/>
          <a:p>
            <a:pPr>
              <a:lnSpc>
                <a:spcPct val="200000"/>
              </a:lnSpc>
            </a:pPr>
            <a:endParaRPr lang="en-US" sz="1200" dirty="0">
              <a:latin typeface="Times New Roman" panose="02020603050405020304" pitchFamily="18" charset="0"/>
              <a:cs typeface="Times New Roman" panose="02020603050405020304" pitchFamily="18" charset="0"/>
            </a:endParaRPr>
          </a:p>
          <a:p>
            <a:pPr>
              <a:lnSpc>
                <a:spcPct val="200000"/>
              </a:lnSpc>
            </a:pPr>
            <a:r>
              <a:rPr lang="en-US" sz="1700" dirty="0">
                <a:latin typeface="Times New Roman" panose="02020603050405020304" pitchFamily="18" charset="0"/>
                <a:cs typeface="Times New Roman" panose="02020603050405020304" pitchFamily="18" charset="0"/>
              </a:rPr>
              <a:t>One limitation of the data analysis is that the dataset only contains the features of a vehicle, and no other variables, such as customer demographics and economic conditions, that may impact sales volume. Additionally, the vehicle's features have little or no impact on influencing buying decisions on their own. </a:t>
            </a:r>
          </a:p>
          <a:p>
            <a:pPr>
              <a:lnSpc>
                <a:spcPct val="200000"/>
              </a:lnSpc>
            </a:pPr>
            <a:r>
              <a:rPr lang="en-US" sz="1700" dirty="0">
                <a:latin typeface="Times New Roman" panose="02020603050405020304" pitchFamily="18" charset="0"/>
                <a:cs typeface="Times New Roman" panose="02020603050405020304" pitchFamily="18" charset="0"/>
              </a:rPr>
              <a:t>The recommendation to the executive of the BMW company is that the vehicle features alone have no impact on determining the sales volume of various vehicles from 2010 to 2024 in different regions, and they may need to consider the economic conditions and customer demographics in determining how to increase the sales volumes.</a:t>
            </a:r>
          </a:p>
          <a:p>
            <a:pPr marL="0" indent="0">
              <a:buNone/>
            </a:pPr>
            <a:endParaRPr lang="en-US" sz="1600" dirty="0">
              <a:solidFill>
                <a:srgbClr val="000000"/>
              </a:solidFill>
            </a:endParaRPr>
          </a:p>
        </p:txBody>
      </p:sp>
    </p:spTree>
    <p:extLst>
      <p:ext uri="{BB962C8B-B14F-4D97-AF65-F5344CB8AC3E}">
        <p14:creationId xmlns:p14="http://schemas.microsoft.com/office/powerpoint/2010/main" val="189971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97D73-14BB-7A81-1426-52D914E4CFEB}"/>
              </a:ext>
            </a:extLst>
          </p:cNvPr>
          <p:cNvSpPr>
            <a:spLocks noGrp="1"/>
          </p:cNvSpPr>
          <p:nvPr>
            <p:ph type="title"/>
          </p:nvPr>
        </p:nvSpPr>
        <p:spPr>
          <a:xfrm>
            <a:off x="2592925" y="1041620"/>
            <a:ext cx="8911687" cy="863379"/>
          </a:xfrm>
        </p:spPr>
        <p:txBody>
          <a:bodyPr/>
          <a:lstStyle/>
          <a:p>
            <a:pPr algn="ctr"/>
            <a:r>
              <a:rPr lang="en-US" sz="3200" b="1" dirty="0">
                <a:solidFill>
                  <a:schemeClr val="tx1"/>
                </a:solidFill>
                <a:latin typeface="Times New Roman" panose="02020603050405020304" pitchFamily="18" charset="0"/>
                <a:cs typeface="Times New Roman" panose="02020603050405020304" pitchFamily="18" charset="0"/>
              </a:rPr>
              <a:t>Benefits</a:t>
            </a:r>
            <a:r>
              <a:rPr lang="en-US" dirty="0"/>
              <a:t> </a:t>
            </a:r>
            <a:r>
              <a:rPr lang="en-US" sz="3200" b="1" dirty="0">
                <a:solidFill>
                  <a:schemeClr val="tx1"/>
                </a:solidFill>
                <a:latin typeface="Times New Roman" panose="02020603050405020304" pitchFamily="18" charset="0"/>
                <a:cs typeface="Times New Roman" panose="02020603050405020304" pitchFamily="18" charset="0"/>
              </a:rPr>
              <a:t>of</a:t>
            </a:r>
            <a:r>
              <a:rPr lang="en-US" dirty="0"/>
              <a:t> </a:t>
            </a:r>
            <a:r>
              <a:rPr lang="en-US" sz="3200" b="1" dirty="0">
                <a:solidFill>
                  <a:schemeClr val="tx1"/>
                </a:solidFill>
                <a:latin typeface="Times New Roman" panose="02020603050405020304" pitchFamily="18" charset="0"/>
                <a:cs typeface="Times New Roman" panose="02020603050405020304" pitchFamily="18" charset="0"/>
              </a:rPr>
              <a:t>the</a:t>
            </a:r>
            <a:r>
              <a:rPr lang="en-US" dirty="0"/>
              <a:t> </a:t>
            </a:r>
            <a:r>
              <a:rPr lang="en-US" sz="3200" b="1" dirty="0">
                <a:solidFill>
                  <a:schemeClr val="tx1"/>
                </a:solidFill>
                <a:latin typeface="Times New Roman" panose="02020603050405020304" pitchFamily="18" charset="0"/>
                <a:cs typeface="Times New Roman" panose="02020603050405020304" pitchFamily="18" charset="0"/>
              </a:rPr>
              <a:t>study</a:t>
            </a:r>
          </a:p>
        </p:txBody>
      </p:sp>
      <p:sp>
        <p:nvSpPr>
          <p:cNvPr id="3" name="Content Placeholder 2">
            <a:extLst>
              <a:ext uri="{FF2B5EF4-FFF2-40B4-BE49-F238E27FC236}">
                <a16:creationId xmlns:a16="http://schemas.microsoft.com/office/drawing/2014/main" id="{A4B3E17A-4538-A871-25E9-CED8715C870C}"/>
              </a:ext>
            </a:extLst>
          </p:cNvPr>
          <p:cNvSpPr>
            <a:spLocks noGrp="1"/>
          </p:cNvSpPr>
          <p:nvPr>
            <p:ph idx="1"/>
          </p:nvPr>
        </p:nvSpPr>
        <p:spPr>
          <a:xfrm>
            <a:off x="2528515" y="2133600"/>
            <a:ext cx="8976097" cy="3777622"/>
          </a:xfrm>
        </p:spPr>
        <p:txBody>
          <a:bodyPr>
            <a:normAutofit/>
          </a:bodyPr>
          <a:lstStyle/>
          <a:p>
            <a:pPr>
              <a:lnSpc>
                <a:spcPct val="200000"/>
              </a:lnSpc>
            </a:pPr>
            <a:r>
              <a:rPr lang="en-US" sz="1200" dirty="0">
                <a:solidFill>
                  <a:schemeClr val="tx1"/>
                </a:solidFill>
                <a:latin typeface="Times New Roman" panose="02020603050405020304" pitchFamily="18" charset="0"/>
                <a:cs typeface="Times New Roman" panose="02020603050405020304" pitchFamily="18" charset="0"/>
              </a:rPr>
              <a:t>The primary objective of this data analysis is to determine whether the features of vehicles affect the sales volume using the random forest regressor model, based on the BMW dataset from 2010 to 2024.  The features model, color, fuel_type,  transmission,  Engine_Size_L,  Mileage_KM, Price_USD, in the various regions with Year as a control variable, were evaluated to determine if they had a significant influence on sales volume. The results indicate poor model performance, characterized by a negative R² value, a large RMSE, and a high MSE score. The model suggests that vehicle features have little to no impact on sales volume. The model hence supports the null hypothesis, “the sales volume for the various BMW vehicles is not significantly influenced by the various factors such as the model, color, fuel_type, transmission, Engine_Size_L, Mileage_KM, Price_USD in the various regions from the year 2010 to the year 2024.”. What this means is that the vehicle features on their own cannot be used as a strategy to increase sales volume.</a:t>
            </a:r>
          </a:p>
          <a:p>
            <a:endParaRPr lang="en-US" dirty="0"/>
          </a:p>
        </p:txBody>
      </p:sp>
    </p:spTree>
    <p:extLst>
      <p:ext uri="{BB962C8B-B14F-4D97-AF65-F5344CB8AC3E}">
        <p14:creationId xmlns:p14="http://schemas.microsoft.com/office/powerpoint/2010/main" val="215860635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453</TotalTime>
  <Words>1284</Words>
  <Application>Microsoft Office PowerPoint</Application>
  <PresentationFormat>Widescreen</PresentationFormat>
  <Paragraphs>34</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Century Gothic</vt:lpstr>
      <vt:lpstr>Times New Roman</vt:lpstr>
      <vt:lpstr>Wingdings 3</vt:lpstr>
      <vt:lpstr>Wisp</vt:lpstr>
      <vt:lpstr>D214: Data Analytics Graduate Capstone -NKM2 — NKM2 Task 3: Presentation of Findings Beatrice Mwangi College of Information Technology, Western Governors University D214: Data Analytics Graduate Capstone Dr. Daniel Smith November 11, 2025 </vt:lpstr>
      <vt:lpstr>Statement of the problem and the hypothesis</vt:lpstr>
      <vt:lpstr>Data analysis process</vt:lpstr>
      <vt:lpstr>Findings</vt:lpstr>
      <vt:lpstr>Limitations of the technique and tool used</vt:lpstr>
      <vt:lpstr>Summary of the proposed action</vt:lpstr>
      <vt:lpstr>Benefits of the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Beatrice Mwangi</dc:creator>
  <cp:lastModifiedBy>Beatrice Mwangi</cp:lastModifiedBy>
  <cp:revision>1</cp:revision>
  <dcterms:created xsi:type="dcterms:W3CDTF">2025-11-11T17:17:06Z</dcterms:created>
  <dcterms:modified xsi:type="dcterms:W3CDTF">2025-11-12T01:56:16Z</dcterms:modified>
</cp:coreProperties>
</file>